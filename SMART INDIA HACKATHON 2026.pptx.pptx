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 Bold" charset="1" panose="020F0702030404030204"/>
      <p:regular r:id="rId15"/>
    </p:embeddedFont>
    <p:embeddedFont>
      <p:font typeface="Arimo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15344" y="2555110"/>
            <a:ext cx="15739662" cy="603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0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SIH26003</a:t>
            </a: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Title-</a:t>
            </a:r>
            <a:r>
              <a:rPr lang="en-US" b="true" sz="300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AI-Based Cognitive Gaming and Memory Assistance Platform for Elderly Dementia Patients in North Eastern Region (NER)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MedTech/BioTech/HealthTech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Cyber Solver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77355" y="1617193"/>
            <a:ext cx="7921857" cy="8555603"/>
            <a:chOff x="0" y="0"/>
            <a:chExt cx="10562476" cy="11407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2463" cy="11407521"/>
            </a:xfrm>
            <a:custGeom>
              <a:avLst/>
              <a:gdLst/>
              <a:ahLst/>
              <a:cxnLst/>
              <a:rect r="r" b="b" t="t" l="l"/>
              <a:pathLst>
                <a:path h="11407521" w="10562463">
                  <a:moveTo>
                    <a:pt x="0" y="0"/>
                  </a:moveTo>
                  <a:lnTo>
                    <a:pt x="10562463" y="0"/>
                  </a:lnTo>
                  <a:lnTo>
                    <a:pt x="10562463" y="11407521"/>
                  </a:lnTo>
                  <a:lnTo>
                    <a:pt x="0" y="11407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582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SMRITI SANJIVANI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7518" y="371227"/>
            <a:ext cx="3389062" cy="871538"/>
            <a:chOff x="0" y="0"/>
            <a:chExt cx="4518749" cy="1162050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4518660" cy="1162050"/>
            </a:xfrm>
            <a:custGeom>
              <a:avLst/>
              <a:gdLst/>
              <a:ahLst/>
              <a:cxnLst/>
              <a:rect r="r" b="b" t="t" l="l"/>
              <a:pathLst>
                <a:path h="1162050" w="4518660">
                  <a:moveTo>
                    <a:pt x="0" y="581025"/>
                  </a:moveTo>
                  <a:cubicBezTo>
                    <a:pt x="0" y="260096"/>
                    <a:pt x="1011555" y="0"/>
                    <a:pt x="2259330" y="0"/>
                  </a:cubicBezTo>
                  <a:cubicBezTo>
                    <a:pt x="3507105" y="0"/>
                    <a:pt x="4518660" y="260096"/>
                    <a:pt x="4518660" y="581025"/>
                  </a:cubicBezTo>
                  <a:cubicBezTo>
                    <a:pt x="4518660" y="901954"/>
                    <a:pt x="3507232" y="1162050"/>
                    <a:pt x="2259330" y="1162050"/>
                  </a:cubicBezTo>
                  <a:cubicBezTo>
                    <a:pt x="1011428" y="1162050"/>
                    <a:pt x="0" y="901954"/>
                    <a:pt x="0" y="58102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69" r="-1" b="-25769"/>
              </a:stretch>
            </a:blipFill>
            <a:ln w="14288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518749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Solver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0228" y="1981571"/>
            <a:ext cx="9705042" cy="942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AI-powered mobile-first app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acts as a personal brain-trainer for elderly users in north-east region of India. It combines cognitive games, reminders and culturally-infused interface. </a:t>
            </a:r>
          </a:p>
          <a:p>
            <a:pPr algn="l">
              <a:lnSpc>
                <a:spcPts val="2879"/>
              </a:lnSpc>
            </a:pP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AI adaptive gaming 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Aimed at active-recalling, memory-boosting, pattern recognition and emotional-engagement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Cognitive performance tracking -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Daily analytics updated on dashboards 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Voice assisted and multi-lingual UI 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and easy to use for senior citizens with hands free voice commands and spoken answers 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Offline-synchronization support 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in rural and low internet connectivity areas of NER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Personalized dashboards -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Separate dashboards for caregivers and patients that eases remote monitoring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Reminders 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hydration, appointments, medicines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Affordable -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Replaces regular in-person therapy sessions </a:t>
            </a: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Simple UI/UX design for elders 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Elder-friendly navigation and mobile-first app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Memory book –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paitent can add and save their important works and memories as flash card.</a:t>
            </a:r>
          </a:p>
          <a:p>
            <a:pPr algn="l">
              <a:lnSpc>
                <a:spcPts val="2879"/>
              </a:lnSpc>
            </a:pPr>
          </a:p>
          <a:p>
            <a:pPr algn="l" marL="434340" indent="-217170" lvl="1">
              <a:lnSpc>
                <a:spcPts val="2879"/>
              </a:lnSpc>
            </a:pPr>
          </a:p>
          <a:p>
            <a:pPr algn="l" marL="434340" indent="-217170" lvl="1">
              <a:lnSpc>
                <a:spcPts val="2879"/>
              </a:lnSpc>
            </a:pPr>
          </a:p>
          <a:p>
            <a:pPr algn="l" marL="434340" indent="-217170" lvl="1">
              <a:lnSpc>
                <a:spcPts val="2879"/>
              </a:lnSpc>
            </a:pPr>
          </a:p>
          <a:p>
            <a:pPr algn="l" marL="434340" indent="-217170" lvl="1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5296" y="574196"/>
            <a:ext cx="8880643" cy="9591094"/>
            <a:chOff x="0" y="0"/>
            <a:chExt cx="11840858" cy="12788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40845" cy="12788138"/>
            </a:xfrm>
            <a:custGeom>
              <a:avLst/>
              <a:gdLst/>
              <a:ahLst/>
              <a:cxnLst/>
              <a:rect r="r" b="b" t="t" l="l"/>
              <a:pathLst>
                <a:path h="12788138" w="11840845">
                  <a:moveTo>
                    <a:pt x="0" y="0"/>
                  </a:moveTo>
                  <a:lnTo>
                    <a:pt x="11840845" y="0"/>
                  </a:lnTo>
                  <a:lnTo>
                    <a:pt x="11840845" y="12788138"/>
                  </a:lnTo>
                  <a:lnTo>
                    <a:pt x="0" y="12788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7518" y="2024377"/>
            <a:ext cx="8894931" cy="7263041"/>
            <a:chOff x="0" y="0"/>
            <a:chExt cx="11859908" cy="96840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9895" cy="9684004"/>
            </a:xfrm>
            <a:custGeom>
              <a:avLst/>
              <a:gdLst/>
              <a:ahLst/>
              <a:cxnLst/>
              <a:rect r="r" b="b" t="t" l="l"/>
              <a:pathLst>
                <a:path h="9684004" w="11859895">
                  <a:moveTo>
                    <a:pt x="0" y="1614043"/>
                  </a:moveTo>
                  <a:cubicBezTo>
                    <a:pt x="0" y="722630"/>
                    <a:pt x="722630" y="0"/>
                    <a:pt x="1614043" y="0"/>
                  </a:cubicBezTo>
                  <a:lnTo>
                    <a:pt x="10245852" y="0"/>
                  </a:lnTo>
                  <a:cubicBezTo>
                    <a:pt x="11137265" y="0"/>
                    <a:pt x="11859895" y="722630"/>
                    <a:pt x="11859895" y="1614043"/>
                  </a:cubicBezTo>
                  <a:lnTo>
                    <a:pt x="11859895" y="8069961"/>
                  </a:lnTo>
                  <a:cubicBezTo>
                    <a:pt x="11859895" y="8961374"/>
                    <a:pt x="11137265" y="9684004"/>
                    <a:pt x="10245852" y="9684004"/>
                  </a:cubicBezTo>
                  <a:lnTo>
                    <a:pt x="1614043" y="9684004"/>
                  </a:lnTo>
                  <a:cubicBezTo>
                    <a:pt x="722630" y="9684004"/>
                    <a:pt x="0" y="8961374"/>
                    <a:pt x="0" y="806996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764" t="0" r="-54764" b="0"/>
              </a:stretch>
            </a:blipFill>
            <a:ln w="14288" cap="sq">
              <a:solidFill>
                <a:srgbClr val="4E68BA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351730" y="195762"/>
            <a:ext cx="9843249" cy="1206475"/>
            <a:chOff x="0" y="0"/>
            <a:chExt cx="13124332" cy="1608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24331" cy="1608635"/>
            </a:xfrm>
            <a:custGeom>
              <a:avLst/>
              <a:gdLst/>
              <a:ahLst/>
              <a:cxnLst/>
              <a:rect r="r" b="b" t="t" l="l"/>
              <a:pathLst>
                <a:path h="1608635" w="13124331">
                  <a:moveTo>
                    <a:pt x="0" y="0"/>
                  </a:moveTo>
                  <a:lnTo>
                    <a:pt x="13124331" y="0"/>
                  </a:lnTo>
                  <a:lnTo>
                    <a:pt x="13124331" y="1608635"/>
                  </a:lnTo>
                  <a:lnTo>
                    <a:pt x="0" y="16086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560" r="0" b="-8638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124332" cy="1646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7518" y="371227"/>
            <a:ext cx="3389062" cy="871538"/>
            <a:chOff x="0" y="0"/>
            <a:chExt cx="4518749" cy="1162050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4518660" cy="1162050"/>
            </a:xfrm>
            <a:custGeom>
              <a:avLst/>
              <a:gdLst/>
              <a:ahLst/>
              <a:cxnLst/>
              <a:rect r="r" b="b" t="t" l="l"/>
              <a:pathLst>
                <a:path h="1162050" w="4518660">
                  <a:moveTo>
                    <a:pt x="0" y="581025"/>
                  </a:moveTo>
                  <a:cubicBezTo>
                    <a:pt x="0" y="260096"/>
                    <a:pt x="1011555" y="0"/>
                    <a:pt x="2259330" y="0"/>
                  </a:cubicBezTo>
                  <a:cubicBezTo>
                    <a:pt x="3507105" y="0"/>
                    <a:pt x="4518660" y="260096"/>
                    <a:pt x="4518660" y="581025"/>
                  </a:cubicBezTo>
                  <a:cubicBezTo>
                    <a:pt x="4518660" y="901954"/>
                    <a:pt x="3507232" y="1162050"/>
                    <a:pt x="2259330" y="1162050"/>
                  </a:cubicBezTo>
                  <a:cubicBezTo>
                    <a:pt x="1011428" y="1162050"/>
                    <a:pt x="0" y="901954"/>
                    <a:pt x="0" y="58102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69" r="-1" b="-25769"/>
              </a:stretch>
            </a:blipFill>
            <a:ln w="14288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518749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Solver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3046" y="2634586"/>
            <a:ext cx="8530809" cy="602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-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HTML, CSS and JavaScript for web based application.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REACT.JS -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 a scalable and interactive framework 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FLASK -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For lightweight backend in Python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-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For Relational Database Management System.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Numpy -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Numerical processing of facial image data.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FastAPI-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API development and integration.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BHASHINI API -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Enables multilingual translation and language support for regional languages.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6996" y="1664246"/>
            <a:ext cx="9358809" cy="9358809"/>
            <a:chOff x="0" y="0"/>
            <a:chExt cx="10952404" cy="10952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52353" cy="10952353"/>
            </a:xfrm>
            <a:custGeom>
              <a:avLst/>
              <a:gdLst/>
              <a:ahLst/>
              <a:cxnLst/>
              <a:rect r="r" b="b" t="t" l="l"/>
              <a:pathLst>
                <a:path h="10952353" w="10952353">
                  <a:moveTo>
                    <a:pt x="0" y="0"/>
                  </a:moveTo>
                  <a:lnTo>
                    <a:pt x="10952353" y="0"/>
                  </a:lnTo>
                  <a:lnTo>
                    <a:pt x="10952353" y="10952353"/>
                  </a:lnTo>
                  <a:lnTo>
                    <a:pt x="0" y="10952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4148" y="-5025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 spc="-294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7518" y="371227"/>
            <a:ext cx="3389062" cy="871538"/>
            <a:chOff x="0" y="0"/>
            <a:chExt cx="4518749" cy="1162050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4518660" cy="1162050"/>
            </a:xfrm>
            <a:custGeom>
              <a:avLst/>
              <a:gdLst/>
              <a:ahLst/>
              <a:cxnLst/>
              <a:rect r="r" b="b" t="t" l="l"/>
              <a:pathLst>
                <a:path h="1162050" w="4518660">
                  <a:moveTo>
                    <a:pt x="0" y="581025"/>
                  </a:moveTo>
                  <a:cubicBezTo>
                    <a:pt x="0" y="260096"/>
                    <a:pt x="1011555" y="0"/>
                    <a:pt x="2259330" y="0"/>
                  </a:cubicBezTo>
                  <a:cubicBezTo>
                    <a:pt x="3507105" y="0"/>
                    <a:pt x="4518660" y="260096"/>
                    <a:pt x="4518660" y="581025"/>
                  </a:cubicBezTo>
                  <a:cubicBezTo>
                    <a:pt x="4518660" y="901954"/>
                    <a:pt x="3507232" y="1162050"/>
                    <a:pt x="2259330" y="1162050"/>
                  </a:cubicBezTo>
                  <a:cubicBezTo>
                    <a:pt x="1011428" y="1162050"/>
                    <a:pt x="0" y="901954"/>
                    <a:pt x="0" y="58102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69" r="-1" b="-25769"/>
              </a:stretch>
            </a:blipFill>
            <a:ln w="14288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518749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Solver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86102" y="2119541"/>
            <a:ext cx="9287771" cy="539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Feasibility of the idea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specifically for NER therefore bridges the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healthcare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gap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difficulty levels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Mobile-first app with multi lingual functionality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in low connectivity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effective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82254" y="5170170"/>
            <a:ext cx="6895986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and Risks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literacy gap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recognition accuracy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a diagnostic tool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6102" y="7018068"/>
            <a:ext cx="8486670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Strategies to Overcome Challenges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UI : Large icons + easy navigation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touch fallback for better accuracy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disclaimers and recommend diagnosis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575" y="-5825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7518" y="526504"/>
            <a:ext cx="3389062" cy="871538"/>
            <a:chOff x="0" y="0"/>
            <a:chExt cx="4518749" cy="1162050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4518660" cy="1162050"/>
            </a:xfrm>
            <a:custGeom>
              <a:avLst/>
              <a:gdLst/>
              <a:ahLst/>
              <a:cxnLst/>
              <a:rect r="r" b="b" t="t" l="l"/>
              <a:pathLst>
                <a:path h="1162050" w="4518660">
                  <a:moveTo>
                    <a:pt x="0" y="581025"/>
                  </a:moveTo>
                  <a:cubicBezTo>
                    <a:pt x="0" y="260096"/>
                    <a:pt x="1011555" y="0"/>
                    <a:pt x="2259330" y="0"/>
                  </a:cubicBezTo>
                  <a:cubicBezTo>
                    <a:pt x="3507105" y="0"/>
                    <a:pt x="4518660" y="260096"/>
                    <a:pt x="4518660" y="581025"/>
                  </a:cubicBezTo>
                  <a:cubicBezTo>
                    <a:pt x="4518660" y="901954"/>
                    <a:pt x="3507232" y="1162050"/>
                    <a:pt x="2259330" y="1162050"/>
                  </a:cubicBezTo>
                  <a:cubicBezTo>
                    <a:pt x="1011428" y="1162050"/>
                    <a:pt x="0" y="901954"/>
                    <a:pt x="0" y="5810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69" r="-1" b="-25769"/>
              </a:stretch>
            </a:blipFill>
            <a:ln w="14288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518749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Solver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8156994" y="2007993"/>
          <a:ext cx="8665369" cy="7991475"/>
        </p:xfrm>
        <a:graphic>
          <a:graphicData uri="http://schemas.openxmlformats.org/drawingml/2006/table">
            <a:tbl>
              <a:tblPr/>
              <a:tblGrid>
                <a:gridCol w="4332684"/>
                <a:gridCol w="4332684"/>
              </a:tblGrid>
              <a:tr h="7752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Area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00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Early detection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Can catch memory decline 6–12 months sooner than usual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</a:tr>
              <a:tr h="15982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Cuts recurring therapy costs (₹500–2000/session) to near zero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</a:tr>
              <a:tr h="200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One app can cover far more households than the handful of specialists NER currently has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</a:tr>
              <a:tr h="15982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Caregivers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Less need for constant supervision — dashboard handles the watching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FF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098575" y="2526421"/>
            <a:ext cx="5743470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C05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Slows cognitive decline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Personalized difficulty level on the basis of performance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isolation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Emotional well being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 save thier best memories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328410"/>
            <a:ext cx="6599634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C05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Caretaker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Remote monitoring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alerts and warning signs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co-ordination with patients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 handle multiple patients    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4971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 spc="-408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7518" y="626269"/>
            <a:ext cx="3389062" cy="871538"/>
            <a:chOff x="0" y="0"/>
            <a:chExt cx="4518749" cy="1162050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4518660" cy="1162050"/>
            </a:xfrm>
            <a:custGeom>
              <a:avLst/>
              <a:gdLst/>
              <a:ahLst/>
              <a:cxnLst/>
              <a:rect r="r" b="b" t="t" l="l"/>
              <a:pathLst>
                <a:path h="1162050" w="4518660">
                  <a:moveTo>
                    <a:pt x="0" y="581025"/>
                  </a:moveTo>
                  <a:cubicBezTo>
                    <a:pt x="0" y="260096"/>
                    <a:pt x="1011555" y="0"/>
                    <a:pt x="2259330" y="0"/>
                  </a:cubicBezTo>
                  <a:cubicBezTo>
                    <a:pt x="3507105" y="0"/>
                    <a:pt x="4518660" y="260096"/>
                    <a:pt x="4518660" y="581025"/>
                  </a:cubicBezTo>
                  <a:cubicBezTo>
                    <a:pt x="4518660" y="901954"/>
                    <a:pt x="3507232" y="1162050"/>
                    <a:pt x="2259330" y="1162050"/>
                  </a:cubicBezTo>
                  <a:cubicBezTo>
                    <a:pt x="1011428" y="1162050"/>
                    <a:pt x="0" y="901954"/>
                    <a:pt x="0" y="5810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69" r="-1" b="-25769"/>
              </a:stretch>
            </a:blipFill>
            <a:ln w="14288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518749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Cyber Solver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32988" y="2459555"/>
            <a:ext cx="7058025" cy="7622667"/>
            <a:chOff x="0" y="0"/>
            <a:chExt cx="9410700" cy="10163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0700" cy="10163556"/>
            </a:xfrm>
            <a:custGeom>
              <a:avLst/>
              <a:gdLst/>
              <a:ahLst/>
              <a:cxnLst/>
              <a:rect r="r" b="b" t="t" l="l"/>
              <a:pathLst>
                <a:path h="10163556" w="9410700">
                  <a:moveTo>
                    <a:pt x="0" y="0"/>
                  </a:moveTo>
                  <a:lnTo>
                    <a:pt x="9410700" y="0"/>
                  </a:lnTo>
                  <a:lnTo>
                    <a:pt x="9410700" y="10163556"/>
                  </a:lnTo>
                  <a:lnTo>
                    <a:pt x="0" y="1016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81331" y="1815351"/>
            <a:ext cx="8672132" cy="122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Comparision with existing systems: 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02322" y="1811684"/>
            <a:ext cx="8958967" cy="66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Refrences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322" y="2339521"/>
            <a:ext cx="8958967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Paper: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2322" y="2855681"/>
            <a:ext cx="895896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https://pubmed.ncbi.nlm.nih.gov/36191740/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2322" y="3375555"/>
            <a:ext cx="895896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https://pubmed.ncbi.nlm.nih.gov/28539102/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2322" y="4701940"/>
            <a:ext cx="8958967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Models used for research: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2322" y="5130565"/>
            <a:ext cx="8958967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OpenAi – ChatGPT classic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2322" y="5621017"/>
            <a:ext cx="8958967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Anthropic – Claude Sonet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DAHVJfQX_K4</dc:identifier>
  <dcterms:modified xsi:type="dcterms:W3CDTF">2011-08-01T06:04:30Z</dcterms:modified>
  <cp:revision>1</cp:revision>
  <dc:title>SMART INDIA HACKATHON 2026.pptx</dc:title>
</cp:coreProperties>
</file>